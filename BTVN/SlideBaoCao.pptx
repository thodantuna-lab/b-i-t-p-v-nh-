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 ExtraBold"/>
      <p:bold r:id="rId7"/>
      <p:boldItalic r:id="rId8"/>
    </p:embeddedFont>
    <p:embeddedFont>
      <p:font typeface="Roboto"/>
      <p:bold r:id="rId9"/>
      <p:boldItalic r:id="rId10"/>
    </p:embeddedFont>
    <p:embeddedFont>
      <p:font typeface="Roboto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emiBold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RobotoSemiBold-italic.fntdata"/><Relationship Id="rId12" Type="http://schemas.openxmlformats.org/officeDocument/2006/relationships/font" Target="fonts/Roboto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4" Type="http://schemas.openxmlformats.org/officeDocument/2006/relationships/font" Target="fonts/Robot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ExtraBold-bold.fntdata"/><Relationship Id="rId8" Type="http://schemas.openxmlformats.org/officeDocument/2006/relationships/font" Target="fonts/Roboto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ddf583a44a494a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6ddf583a44a494a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ddf583a44a494aa_7_0)">
  <p:cSld name="Generated (h6ddf583a44a494aa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381000" y="2857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850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50% Phiếu Mượn Gặp Lỗi Dữ Liệu &amp; Tỷ Lệ Quá Hạn Chiếm 25% Trong Tháng 10</a:t>
            </a:r>
            <a:endParaRPr b="1" sz="1850">
              <a:solidFill>
                <a:srgbClr val="F8FAF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vi" sz="111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Báo cáo tổng hợp kết quả kiểm tra chất lượng dữ liệu (Phần 2) và tình trạng mượn sách (Phần 3)</a:t>
            </a:r>
            <a:endParaRPr b="0" sz="1110">
              <a:solidFill>
                <a:srgbClr val="94A3B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381000" y="1143000"/>
            <a:ext cx="2667000" cy="2190900"/>
            <a:chOff x="0" y="0"/>
            <a:chExt cx="2667000" cy="21909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2667000" cy="2190900"/>
            </a:xfrm>
            <a:prstGeom prst="roundRect">
              <a:avLst>
                <a:gd fmla="val 521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0" y="0"/>
              <a:ext cx="26670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190500" y="190500"/>
              <a:ext cx="2286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203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KẾT LUẬN NỔI BẬT</a:t>
              </a:r>
              <a:endParaRPr b="1" sz="1203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vi" sz="3600">
                  <a:solidFill>
                    <a:srgbClr val="EF4444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50%</a:t>
              </a:r>
              <a:endParaRPr b="0" sz="3600">
                <a:solidFill>
                  <a:srgbClr val="EF4444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vi" sz="1100">
                  <a:solidFill>
                    <a:srgbClr val="CBD5E1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Tỷ lệ thông tin không hợp lệ</a:t>
              </a:r>
              <a:endParaRPr b="0" sz="1100">
                <a:solidFill>
                  <a:srgbClr val="CBD5E1"/>
                </a:solidFill>
                <a:latin typeface="Roboto SemiBold"/>
                <a:ea typeface="Roboto SemiBold"/>
                <a:cs typeface="Roboto SemiBold"/>
                <a:sym typeface="Roboto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vi" sz="10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rPr>
                <a:t>Mã sách S099 không tồn tại trong danh mục và Ngày mượn bị ghi đè thành 01/10/2026.</a:t>
              </a:r>
              <a:endParaRPr b="0" sz="100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3238500" y="1143000"/>
            <a:ext cx="5524500" cy="2190900"/>
            <a:chOff x="0" y="0"/>
            <a:chExt cx="5524500" cy="2190900"/>
          </a:xfrm>
        </p:grpSpPr>
        <p:sp>
          <p:nvSpPr>
            <p:cNvPr id="61" name="Google Shape;61;p14"/>
            <p:cNvSpPr/>
            <p:nvPr/>
          </p:nvSpPr>
          <p:spPr>
            <a:xfrm>
              <a:off x="0" y="0"/>
              <a:ext cx="5524500" cy="2190900"/>
            </a:xfrm>
            <a:prstGeom prst="roundRect">
              <a:avLst>
                <a:gd fmla="val 521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0" y="0"/>
              <a:ext cx="55245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190500" y="142875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203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CƠ CẤU TÌNH TRẠNG MƯỢN SÁCH (DONUT CHART)</a:t>
              </a:r>
              <a:endParaRPr b="1" sz="1203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64" name="Google Shape;64;p14"/>
            <p:cNvGrpSpPr/>
            <p:nvPr/>
          </p:nvGrpSpPr>
          <p:grpSpPr>
            <a:xfrm>
              <a:off x="485775" y="533400"/>
              <a:ext cx="1504875" cy="1505100"/>
              <a:chOff x="-752475" y="-752475"/>
              <a:chExt cx="1504875" cy="1505100"/>
            </a:xfrm>
          </p:grpSpPr>
          <p:sp>
            <p:nvSpPr>
              <p:cNvPr id="65" name="Google Shape;65;p14"/>
              <p:cNvSpPr/>
              <p:nvPr/>
            </p:nvSpPr>
            <p:spPr>
              <a:xfrm>
                <a:off x="-619125" y="-619125"/>
                <a:ext cx="1238400" cy="12384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266700">
                <a:solidFill>
                  <a:srgbClr val="33415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6" name="Google Shape;66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-752475"/>
                <a:ext cx="752400" cy="1505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7" name="Google Shape;67;p1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752475" y="0"/>
                <a:ext cx="752400" cy="752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" name="Google Shape;68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752475" y="-752475"/>
                <a:ext cx="752400" cy="752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" name="Google Shape;69;p14"/>
              <p:cNvSpPr txBox="1"/>
              <p:nvPr/>
            </p:nvSpPr>
            <p:spPr>
              <a:xfrm>
                <a:off x="-381000" y="-114300"/>
                <a:ext cx="762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vi" sz="1110">
                    <a:solidFill>
                      <a:srgbClr val="F8FAFC"/>
                    </a:solidFill>
                    <a:latin typeface="Arial"/>
                    <a:ea typeface="Arial"/>
                    <a:cs typeface="Arial"/>
                    <a:sym typeface="Arial"/>
                  </a:rPr>
                  <a:t>4 Phiếu</a:t>
                </a:r>
                <a:endParaRPr b="1" sz="1110">
                  <a:solidFill>
                    <a:srgbClr val="F8FAF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14"/>
            <p:cNvGrpSpPr/>
            <p:nvPr/>
          </p:nvGrpSpPr>
          <p:grpSpPr>
            <a:xfrm>
              <a:off x="2476500" y="600075"/>
              <a:ext cx="2857500" cy="1190550"/>
              <a:chOff x="0" y="-19050"/>
              <a:chExt cx="2857500" cy="1190550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0" y="0"/>
                <a:ext cx="1143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14"/>
              <p:cNvSpPr txBox="1"/>
              <p:nvPr/>
            </p:nvSpPr>
            <p:spPr>
              <a:xfrm>
                <a:off x="190500" y="-1905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vi" sz="971">
                    <a:solidFill>
                      <a:srgbClr val="E2E8F0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Đang mượn:</a:t>
                </a:r>
                <a:r>
                  <a:rPr b="0" lang="vi" sz="971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 2 phiếu (50%)</a:t>
                </a:r>
                <a:endParaRPr b="0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vi" sz="900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rPr>
                  <a:t>SV001, SV004 (có S099 lỗi)</a:t>
                </a:r>
                <a:endParaRPr b="0" sz="9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3" name="Google Shape;73;p14"/>
              <p:cNvSpPr/>
              <p:nvPr/>
            </p:nvSpPr>
            <p:spPr>
              <a:xfrm>
                <a:off x="0" y="428625"/>
                <a:ext cx="1143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14"/>
              <p:cNvSpPr txBox="1"/>
              <p:nvPr/>
            </p:nvSpPr>
            <p:spPr>
              <a:xfrm>
                <a:off x="190500" y="409575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vi" sz="971">
                    <a:solidFill>
                      <a:srgbClr val="E2E8F0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Quá hạn:</a:t>
                </a:r>
                <a:r>
                  <a:rPr b="0" lang="vi" sz="971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 1 phiếu (25%)</a:t>
                </a:r>
                <a:endParaRPr b="0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vi" sz="900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rPr>
                  <a:t>SV002 - Trần Thị Bình</a:t>
                </a:r>
                <a:endParaRPr b="0" sz="9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0" y="857250"/>
                <a:ext cx="114300" cy="114300"/>
              </a:xfrm>
              <a:prstGeom prst="roundRect">
                <a:avLst>
                  <a:gd fmla="val 25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 txBox="1"/>
              <p:nvPr/>
            </p:nvSpPr>
            <p:spPr>
              <a:xfrm>
                <a:off x="190500" y="838200"/>
                <a:ext cx="2667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vi" sz="971">
                    <a:solidFill>
                      <a:srgbClr val="E2E8F0"/>
                    </a:solidFill>
                    <a:latin typeface="Roboto SemiBold"/>
                    <a:ea typeface="Roboto SemiBold"/>
                    <a:cs typeface="Roboto SemiBold"/>
                    <a:sym typeface="Roboto SemiBold"/>
                  </a:rPr>
                  <a:t>Đã trả:</a:t>
                </a:r>
                <a:r>
                  <a:rPr b="0" lang="vi" sz="971">
                    <a:solidFill>
                      <a:srgbClr val="E2E8F0"/>
                    </a:solidFill>
                    <a:latin typeface="Roboto"/>
                    <a:ea typeface="Roboto"/>
                    <a:cs typeface="Roboto"/>
                    <a:sym typeface="Roboto"/>
                  </a:rPr>
                  <a:t> 1 phiếu (25%)</a:t>
                </a:r>
                <a:endParaRPr b="0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vi" sz="900">
                    <a:solidFill>
                      <a:srgbClr val="94A3B8"/>
                    </a:solidFill>
                    <a:latin typeface="Roboto"/>
                    <a:ea typeface="Roboto"/>
                    <a:cs typeface="Roboto"/>
                    <a:sym typeface="Roboto"/>
                  </a:rPr>
                  <a:t>SV003 - Lê Văn Cường</a:t>
                </a:r>
                <a:endParaRPr b="0" sz="900">
                  <a:solidFill>
                    <a:srgbClr val="94A3B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77" name="Google Shape;77;p14"/>
          <p:cNvGrpSpPr/>
          <p:nvPr/>
        </p:nvGrpSpPr>
        <p:grpSpPr>
          <a:xfrm>
            <a:off x="381000" y="3476625"/>
            <a:ext cx="4048200" cy="1381200"/>
            <a:chOff x="0" y="0"/>
            <a:chExt cx="4048200" cy="13812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0" y="0"/>
              <a:ext cx="40482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203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LÝ DO CHỌN BIỂU ĐỒ DONUT</a:t>
              </a:r>
              <a:endParaRPr b="1" sz="1203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0" lang="vi" sz="971">
                  <a:solidFill>
                    <a:srgbClr val="38BDF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Thể hiện tỷ lệ phần trăm: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Phù hợp để hiển thị cơ cấu các trạng thái trên tổng số 100% dữ liệu mượn.</a:t>
              </a:r>
              <a:endParaRPr b="0" sz="97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0" lang="vi" sz="971">
                  <a:solidFill>
                    <a:srgbClr val="38BDF8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Tối ưu cho ít phân loại: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Chỉ có 3 trạng thái (Đang mượn, Quá hạn, Đã trả) giúp biểu đồ rõ ràng, dễ quan sát ngay lập tức.</a:t>
              </a:r>
              <a:endParaRPr b="0" sz="97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4714875" y="3476625"/>
            <a:ext cx="4048200" cy="1381200"/>
            <a:chOff x="0" y="0"/>
            <a:chExt cx="4048200" cy="1381200"/>
          </a:xfrm>
        </p:grpSpPr>
        <p:sp>
          <p:nvSpPr>
            <p:cNvPr id="82" name="Google Shape;82;p14"/>
            <p:cNvSpPr/>
            <p:nvPr/>
          </p:nvSpPr>
          <p:spPr>
            <a:xfrm>
              <a:off x="0" y="0"/>
              <a:ext cx="4048200" cy="1381200"/>
            </a:xfrm>
            <a:prstGeom prst="roundRect">
              <a:avLst>
                <a:gd fmla="val 8275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0" y="0"/>
              <a:ext cx="40482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190500" y="142875"/>
              <a:ext cx="36672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vi" sz="1203">
                  <a:solidFill>
                    <a:srgbClr val="38BDF8"/>
                  </a:solidFill>
                  <a:latin typeface="Roboto"/>
                  <a:ea typeface="Roboto"/>
                  <a:cs typeface="Roboto"/>
                  <a:sym typeface="Roboto"/>
                </a:rPr>
                <a:t>ÁP DỤNG QUY TẮC 10/20/30</a:t>
              </a:r>
              <a:endParaRPr b="1" sz="1203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0" lang="vi" sz="971">
                  <a:solidFill>
                    <a:srgbClr val="F59E0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Thứ tự Slide: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Slide thứ </a:t>
              </a:r>
              <a:r>
                <a:rPr b="1" lang="vi" sz="971">
                  <a:solidFill>
                    <a:srgbClr val="F59E0B"/>
                  </a:solidFill>
                  <a:latin typeface="Roboto"/>
                  <a:ea typeface="Roboto"/>
                  <a:cs typeface="Roboto"/>
                  <a:sym typeface="Roboto"/>
                </a:rPr>
                <a:t>5 / 10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trong toàn bộ bài thuyết trình.</a:t>
              </a:r>
              <a:endParaRPr b="0" sz="97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0" lang="vi" sz="971">
                  <a:solidFill>
                    <a:srgbClr val="F59E0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Thời lượng trình bày: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Dự kiến </a:t>
              </a:r>
              <a:r>
                <a:rPr b="1" lang="vi" sz="971">
                  <a:solidFill>
                    <a:srgbClr val="F59E0B"/>
                  </a:solidFill>
                  <a:latin typeface="Roboto"/>
                  <a:ea typeface="Roboto"/>
                  <a:cs typeface="Roboto"/>
                  <a:sym typeface="Roboto"/>
                </a:rPr>
                <a:t>2 phút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(trong tổng số 20 phút dành cho 10 slide, trung bình 2 phút/slide).</a:t>
              </a:r>
              <a:endParaRPr b="0" sz="97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• </a:t>
              </a:r>
              <a:r>
                <a:rPr b="0" lang="vi" sz="971">
                  <a:solidFill>
                    <a:srgbClr val="F59E0B"/>
                  </a:solidFill>
                  <a:latin typeface="Roboto SemiBold"/>
                  <a:ea typeface="Roboto SemiBold"/>
                  <a:cs typeface="Roboto SemiBold"/>
                  <a:sym typeface="Roboto SemiBold"/>
                </a:rPr>
                <a:t>Cỡ chữ (30pt):</a:t>
              </a:r>
              <a:r>
                <a:rPr b="0" lang="vi" sz="971">
                  <a:solidFill>
                    <a:srgbClr val="E2E8F0"/>
                  </a:solidFill>
                  <a:latin typeface="Roboto"/>
                  <a:ea typeface="Roboto"/>
                  <a:cs typeface="Roboto"/>
                  <a:sym typeface="Roboto"/>
                </a:rPr>
                <a:t> Tiêu đề kết luận đạt chuẩn &gt;30pt đảm bảo dễ đọc.</a:t>
              </a:r>
              <a:endParaRPr b="0" sz="971">
                <a:solidFill>
                  <a:srgbClr val="E2E8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